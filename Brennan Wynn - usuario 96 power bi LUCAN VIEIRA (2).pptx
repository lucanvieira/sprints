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Montserrat"/>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regular.fntdata"/><Relationship Id="rId10" Type="http://schemas.openxmlformats.org/officeDocument/2006/relationships/slide" Target="slides/slide5.xml"/><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Montserrat-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959aabdc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959aabdc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3959aabdc1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3959aabdc1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959aabdc1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3959aabdc1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959aabdc1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3959aabdc1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es.wikipedia.org/wiki/R%C3%ADo_Clearwater_(Idaho)" TargetMode="External"/><Relationship Id="rId10" Type="http://schemas.openxmlformats.org/officeDocument/2006/relationships/hyperlink" Target="https://es.wikipedia.org/wiki/Lewiston_(Idaho)#cite_note-GR1-2" TargetMode="External"/><Relationship Id="rId13" Type="http://schemas.openxmlformats.org/officeDocument/2006/relationships/hyperlink" Target="https://es.wikipedia.org/wiki/Washington_(estado)" TargetMode="External"/><Relationship Id="rId12" Type="http://schemas.openxmlformats.org/officeDocument/2006/relationships/hyperlink" Target="https://es.wikipedia.org/wiki/R%C3%ADo_Snake"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s.wikipedia.org/wiki/Ciudad" TargetMode="External"/><Relationship Id="rId4" Type="http://schemas.openxmlformats.org/officeDocument/2006/relationships/hyperlink" Target="https://es.wikipedia.org/wiki/Condado_de_Nez_Perce_(Idaho)" TargetMode="External"/><Relationship Id="rId9" Type="http://schemas.openxmlformats.org/officeDocument/2006/relationships/hyperlink" Target="https://es.wikipedia.org/wiki/Kil%C3%B3metro_cuadrado" TargetMode="External"/><Relationship Id="rId14" Type="http://schemas.openxmlformats.org/officeDocument/2006/relationships/image" Target="../media/image2.png"/><Relationship Id="rId5" Type="http://schemas.openxmlformats.org/officeDocument/2006/relationships/hyperlink" Target="https://es.wikipedia.org/wiki/Estado_de_los_Estados_Unidos_de_Am%C3%A9rica" TargetMode="External"/><Relationship Id="rId6" Type="http://schemas.openxmlformats.org/officeDocument/2006/relationships/hyperlink" Target="https://es.wikipedia.org/wiki/Estados_Unidos" TargetMode="External"/><Relationship Id="rId7" Type="http://schemas.openxmlformats.org/officeDocument/2006/relationships/hyperlink" Target="https://es.wikipedia.org/wiki/Idaho" TargetMode="External"/><Relationship Id="rId8" Type="http://schemas.openxmlformats.org/officeDocument/2006/relationships/hyperlink" Target="https://es.wikipedia.org/wiki/Censo_de_los_Estados_Unidos_de_202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pt-PT"/>
              <a:t>Brennan Wynn</a:t>
            </a:r>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5083950" y="3621150"/>
            <a:ext cx="34707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pt-PT"/>
              <a:t>LEWISTON (IDAHO)-</a:t>
            </a:r>
            <a:endParaRPr/>
          </a:p>
          <a:p>
            <a:pPr indent="0" lvl="0" marL="0" rtl="0" algn="l">
              <a:spcBef>
                <a:spcPts val="0"/>
              </a:spcBef>
              <a:spcAft>
                <a:spcPts val="0"/>
              </a:spcAft>
              <a:buNone/>
            </a:pPr>
            <a:r>
              <a:rPr lang="pt-PT"/>
              <a:t>EUA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a:t>
            </a:r>
            <a:endParaRPr/>
          </a:p>
          <a:p>
            <a:pPr indent="0" lvl="0" marL="0" rtl="0" algn="l">
              <a:spcBef>
                <a:spcPts val="0"/>
              </a:spcBef>
              <a:spcAft>
                <a:spcPts val="0"/>
              </a:spcAft>
              <a:buNone/>
            </a:pPr>
            <a:r>
              <a:t/>
            </a:r>
            <a:endParaRPr/>
          </a:p>
        </p:txBody>
      </p:sp>
      <p:sp>
        <p:nvSpPr>
          <p:cNvPr id="141" name="Google Shape;141;p14"/>
          <p:cNvSpPr txBox="1"/>
          <p:nvPr>
            <p:ph idx="1" type="body"/>
          </p:nvPr>
        </p:nvSpPr>
        <p:spPr>
          <a:xfrm>
            <a:off x="1297500" y="1590225"/>
            <a:ext cx="3556500" cy="2911200"/>
          </a:xfrm>
          <a:prstGeom prst="rect">
            <a:avLst/>
          </a:prstGeom>
          <a:solidFill>
            <a:schemeClr val="dk1"/>
          </a:solidFill>
        </p:spPr>
        <p:txBody>
          <a:bodyPr anchorCtr="0" anchor="t" bIns="91425" lIns="91425" spcFirstLastPara="1" rIns="91425" wrap="square" tIns="91425">
            <a:normAutofit lnSpcReduction="10000"/>
          </a:bodyPr>
          <a:lstStyle/>
          <a:p>
            <a:pPr indent="0" lvl="0" marL="0" marR="0" rtl="0" algn="just">
              <a:lnSpc>
                <a:spcPct val="115000"/>
              </a:lnSpc>
              <a:spcBef>
                <a:spcPts val="1200"/>
              </a:spcBef>
              <a:spcAft>
                <a:spcPts val="0"/>
              </a:spcAft>
              <a:buNone/>
            </a:pPr>
            <a:r>
              <a:rPr lang="pt-PT"/>
              <a:t>Brennan Wynn es un usuario de 36 años residente en Lewiston(Idaho), Estados Unidos. </a:t>
            </a:r>
            <a:br>
              <a:rPr lang="pt-PT"/>
            </a:br>
            <a:br>
              <a:rPr lang="pt-PT"/>
            </a:br>
            <a:r>
              <a:rPr lang="pt-PT"/>
              <a:t>Lewiston es una </a:t>
            </a:r>
            <a:r>
              <a:rPr lang="pt-PT">
                <a:uFill>
                  <a:noFill/>
                </a:uFill>
                <a:hlinkClick r:id="rId3"/>
              </a:rPr>
              <a:t>ciudad</a:t>
            </a:r>
            <a:r>
              <a:rPr lang="pt-PT"/>
              <a:t> ubicada en el </a:t>
            </a:r>
            <a:r>
              <a:rPr lang="pt-PT">
                <a:uFill>
                  <a:noFill/>
                </a:uFill>
                <a:hlinkClick r:id="rId4"/>
              </a:rPr>
              <a:t>condado de Nez Perce</a:t>
            </a:r>
            <a:r>
              <a:rPr lang="pt-PT"/>
              <a:t> en el </a:t>
            </a:r>
            <a:r>
              <a:rPr lang="pt-PT">
                <a:uFill>
                  <a:noFill/>
                </a:uFill>
                <a:hlinkClick r:id="rId5"/>
              </a:rPr>
              <a:t>estado</a:t>
            </a:r>
            <a:r>
              <a:rPr lang="pt-PT"/>
              <a:t> </a:t>
            </a:r>
            <a:r>
              <a:rPr lang="pt-PT">
                <a:uFill>
                  <a:noFill/>
                </a:uFill>
                <a:hlinkClick r:id="rId6"/>
              </a:rPr>
              <a:t>estadounidense</a:t>
            </a:r>
            <a:r>
              <a:rPr lang="pt-PT"/>
              <a:t> de </a:t>
            </a:r>
            <a:r>
              <a:rPr lang="pt-PT">
                <a:uFill>
                  <a:noFill/>
                </a:uFill>
                <a:hlinkClick r:id="rId7"/>
              </a:rPr>
              <a:t>Idaho</a:t>
            </a:r>
            <a:r>
              <a:rPr lang="pt-PT"/>
              <a:t>. En el </a:t>
            </a:r>
            <a:r>
              <a:rPr lang="pt-PT">
                <a:uFill>
                  <a:noFill/>
                </a:uFill>
                <a:hlinkClick r:id="rId8"/>
              </a:rPr>
              <a:t>Censo de 2020</a:t>
            </a:r>
            <a:r>
              <a:rPr lang="pt-PT"/>
              <a:t> tiene una población de 34 203 habitantes y una densidad poblacional de 682,58 habitantes por </a:t>
            </a:r>
            <a:r>
              <a:rPr lang="pt-PT">
                <a:uFill>
                  <a:noFill/>
                </a:uFill>
                <a:hlinkClick r:id="rId9"/>
              </a:rPr>
              <a:t>km²</a:t>
            </a:r>
            <a:r>
              <a:rPr lang="pt-PT"/>
              <a:t>.</a:t>
            </a:r>
            <a:r>
              <a:rPr lang="pt-PT">
                <a:uFill>
                  <a:noFill/>
                </a:uFill>
                <a:hlinkClick r:id="rId10"/>
              </a:rPr>
              <a:t>2</a:t>
            </a:r>
            <a:r>
              <a:rPr lang="pt-PT"/>
              <a:t>​ Se encuentra en la confluencia de los ríos </a:t>
            </a:r>
            <a:r>
              <a:rPr lang="pt-PT">
                <a:uFill>
                  <a:noFill/>
                </a:uFill>
                <a:hlinkClick r:id="rId11"/>
              </a:rPr>
              <a:t>Clearwater</a:t>
            </a:r>
            <a:r>
              <a:rPr lang="pt-PT"/>
              <a:t> y </a:t>
            </a:r>
            <a:r>
              <a:rPr lang="pt-PT">
                <a:uFill>
                  <a:noFill/>
                </a:uFill>
                <a:hlinkClick r:id="rId12"/>
              </a:rPr>
              <a:t>Snake</a:t>
            </a:r>
            <a:r>
              <a:rPr lang="pt-PT"/>
              <a:t>, que la separa del estado de </a:t>
            </a:r>
            <a:r>
              <a:rPr lang="pt-PT">
                <a:uFill>
                  <a:noFill/>
                </a:uFill>
                <a:hlinkClick r:id="rId13"/>
              </a:rPr>
              <a:t>Washington</a:t>
            </a:r>
            <a:r>
              <a:rPr lang="pt-PT"/>
              <a:t>.</a:t>
            </a:r>
            <a:endParaRPr/>
          </a:p>
          <a:p>
            <a:pPr indent="0" lvl="0" marL="0" marR="0" rtl="0" algn="l">
              <a:lnSpc>
                <a:spcPct val="115000"/>
              </a:lnSpc>
              <a:spcBef>
                <a:spcPts val="1200"/>
              </a:spcBef>
              <a:spcAft>
                <a:spcPts val="1200"/>
              </a:spcAft>
              <a:buNone/>
            </a:pPr>
            <a:r>
              <a:t/>
            </a:r>
            <a:endParaRPr/>
          </a:p>
        </p:txBody>
      </p:sp>
      <p:pic>
        <p:nvPicPr>
          <p:cNvPr id="142" name="Google Shape;142;p14"/>
          <p:cNvPicPr preferRelativeResize="0"/>
          <p:nvPr/>
        </p:nvPicPr>
        <p:blipFill rotWithShape="1">
          <a:blip r:embed="rId14">
            <a:alphaModFix/>
          </a:blip>
          <a:srcRect b="27959" l="17369" r="49740" t="39431"/>
          <a:stretch/>
        </p:blipFill>
        <p:spPr>
          <a:xfrm>
            <a:off x="4993300" y="1711325"/>
            <a:ext cx="3878277" cy="2027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Estabilidad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 name="Google Shape;148;p15"/>
          <p:cNvSpPr txBox="1"/>
          <p:nvPr>
            <p:ph idx="1" type="body"/>
          </p:nvPr>
        </p:nvSpPr>
        <p:spPr>
          <a:xfrm>
            <a:off x="1297500" y="1590225"/>
            <a:ext cx="3556500" cy="2911200"/>
          </a:xfrm>
          <a:prstGeom prst="rect">
            <a:avLst/>
          </a:prstGeom>
          <a:solidFill>
            <a:schemeClr val="dk1"/>
          </a:solidFill>
        </p:spPr>
        <p:txBody>
          <a:bodyPr anchorCtr="0" anchor="t" bIns="91425" lIns="91425" spcFirstLastPara="1" rIns="91425" wrap="square" tIns="91425">
            <a:normAutofit/>
          </a:bodyPr>
          <a:lstStyle/>
          <a:p>
            <a:pPr indent="0" lvl="0" marL="0" rtl="0" algn="just">
              <a:spcBef>
                <a:spcPts val="0"/>
              </a:spcBef>
              <a:spcAft>
                <a:spcPts val="1200"/>
              </a:spcAft>
              <a:buNone/>
            </a:pPr>
            <a:r>
              <a:rPr lang="pt-PT"/>
              <a:t>A lo largo de 2021, tuvo un promedio de compras de 262,57, y en 2022, este valor aumentó a 279,80, lo que indica un leve aumento en su patrón de consumo. Durante este período, Brennan realizó 25 transacciones aceptadas, sin registros de transacciones rechazadas, lo que demuestra un historial muy bueno de compras.</a:t>
            </a:r>
            <a:endParaRPr/>
          </a:p>
        </p:txBody>
      </p:sp>
      <p:pic>
        <p:nvPicPr>
          <p:cNvPr id="149" name="Google Shape;149;p15"/>
          <p:cNvPicPr preferRelativeResize="0"/>
          <p:nvPr/>
        </p:nvPicPr>
        <p:blipFill rotWithShape="1">
          <a:blip r:embed="rId3">
            <a:alphaModFix/>
          </a:blip>
          <a:srcRect b="40916" l="12997" r="67332" t="29861"/>
          <a:stretch/>
        </p:blipFill>
        <p:spPr>
          <a:xfrm>
            <a:off x="5518625" y="1366200"/>
            <a:ext cx="2935352" cy="2299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Versatilidad</a:t>
            </a:r>
            <a:endParaRPr/>
          </a:p>
          <a:p>
            <a:pPr indent="0" lvl="0" marL="0" rtl="0" algn="l">
              <a:spcBef>
                <a:spcPts val="0"/>
              </a:spcBef>
              <a:spcAft>
                <a:spcPts val="0"/>
              </a:spcAft>
              <a:buNone/>
            </a:pPr>
            <a:r>
              <a:t/>
            </a:r>
            <a:endParaRPr/>
          </a:p>
        </p:txBody>
      </p:sp>
      <p:sp>
        <p:nvSpPr>
          <p:cNvPr id="155" name="Google Shape;155;p16"/>
          <p:cNvSpPr txBox="1"/>
          <p:nvPr>
            <p:ph idx="1" type="body"/>
          </p:nvPr>
        </p:nvSpPr>
        <p:spPr>
          <a:xfrm>
            <a:off x="1297500" y="1567550"/>
            <a:ext cx="37077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PT"/>
              <a:t>El producto más barato adquirido por él fue de 9,24, mientras que el más caro llegó a 195,94, lo que muestra una variación significativa en sus compras.</a:t>
            </a:r>
            <a:br>
              <a:rPr lang="pt-PT"/>
            </a:br>
            <a:r>
              <a:rPr lang="pt-PT"/>
              <a:t>Este </a:t>
            </a:r>
            <a:r>
              <a:rPr lang="pt-PT"/>
              <a:t>dado</a:t>
            </a:r>
            <a:r>
              <a:rPr lang="pt-PT"/>
              <a:t> indica que Brennan és un comprador </a:t>
            </a:r>
            <a:r>
              <a:rPr lang="pt-PT"/>
              <a:t>versátil</a:t>
            </a:r>
            <a:r>
              <a:rPr lang="pt-PT"/>
              <a:t>, que explora compras  de alto y bajo valor, o sea, tiene una gama diversificada de </a:t>
            </a:r>
            <a:r>
              <a:rPr lang="pt-PT"/>
              <a:t>interesses</a:t>
            </a:r>
            <a:r>
              <a:rPr lang="pt-PT"/>
              <a:t>.</a:t>
            </a:r>
            <a:endParaRPr/>
          </a:p>
        </p:txBody>
      </p:sp>
      <p:pic>
        <p:nvPicPr>
          <p:cNvPr id="156" name="Google Shape;156;p16"/>
          <p:cNvPicPr preferRelativeResize="0"/>
          <p:nvPr/>
        </p:nvPicPr>
        <p:blipFill rotWithShape="1">
          <a:blip r:embed="rId3">
            <a:alphaModFix/>
          </a:blip>
          <a:srcRect b="31953" l="3282" r="70602" t="49433"/>
          <a:stretch/>
        </p:blipFill>
        <p:spPr>
          <a:xfrm>
            <a:off x="5311725" y="1921700"/>
            <a:ext cx="2907628" cy="1092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Una increíble </a:t>
            </a:r>
            <a:r>
              <a:rPr lang="pt-PT"/>
              <a:t>trayectoria</a:t>
            </a:r>
            <a:r>
              <a:rPr lang="pt-PT"/>
              <a:t> </a:t>
            </a:r>
            <a:endParaRPr/>
          </a:p>
          <a:p>
            <a:pPr indent="0" lvl="0" marL="0" rtl="0" algn="l">
              <a:spcBef>
                <a:spcPts val="0"/>
              </a:spcBef>
              <a:spcAft>
                <a:spcPts val="0"/>
              </a:spcAft>
              <a:buNone/>
            </a:pPr>
            <a:r>
              <a:t/>
            </a:r>
            <a:endParaRPr/>
          </a:p>
        </p:txBody>
      </p:sp>
      <p:sp>
        <p:nvSpPr>
          <p:cNvPr id="162" name="Google Shape;162;p17"/>
          <p:cNvSpPr txBox="1"/>
          <p:nvPr>
            <p:ph idx="1" type="body"/>
          </p:nvPr>
        </p:nvSpPr>
        <p:spPr>
          <a:xfrm>
            <a:off x="1297500" y="1567550"/>
            <a:ext cx="3707700" cy="29112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pt-PT"/>
              <a:t>Por último, cabe resaltar que Brennan es uno de los usuarios más importantes que tenemos. Es responsable de €6.615,85 en compras, lo que equivale al 4,39% del total de las compras realizadas en la empresa. De esta manera, nuestro usuario se ubica en el puesto 5 con el mayor porcentaje de compras en la empresa.</a:t>
            </a:r>
            <a:endParaRPr/>
          </a:p>
          <a:p>
            <a:pPr indent="0" lvl="0" marL="0" rtl="0" algn="just">
              <a:spcBef>
                <a:spcPts val="1200"/>
              </a:spcBef>
              <a:spcAft>
                <a:spcPts val="0"/>
              </a:spcAft>
              <a:buNone/>
            </a:pPr>
            <a:br>
              <a:rPr lang="pt-PT"/>
            </a:br>
            <a:endParaRPr/>
          </a:p>
          <a:p>
            <a:pPr indent="0" lvl="0" marL="0" rtl="0" algn="just">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